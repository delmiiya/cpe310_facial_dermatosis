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Bold" charset="1" panose="020B0802030000000004"/>
      <p:regular r:id="rId18"/>
    </p:embeddedFont>
    <p:embeddedFont>
      <p:font typeface="Helvetica Thai" charset="1" panose="020B0500040000020004"/>
      <p:regular r:id="rId19"/>
    </p:embeddedFont>
    <p:embeddedFont>
      <p:font typeface="Helvetica Thai Bold" charset="1" panose="020B080004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9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09631" y="6283455"/>
            <a:ext cx="7268739" cy="2974845"/>
            <a:chOff x="0" y="0"/>
            <a:chExt cx="2561533" cy="104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1533" cy="1048347"/>
            </a:xfrm>
            <a:custGeom>
              <a:avLst/>
              <a:gdLst/>
              <a:ahLst/>
              <a:cxnLst/>
              <a:rect r="r" b="b" t="t" l="l"/>
              <a:pathLst>
                <a:path h="1048347" w="2561533">
                  <a:moveTo>
                    <a:pt x="0" y="0"/>
                  </a:moveTo>
                  <a:lnTo>
                    <a:pt x="2561533" y="0"/>
                  </a:lnTo>
                  <a:lnTo>
                    <a:pt x="2561533" y="1048347"/>
                  </a:lnTo>
                  <a:lnTo>
                    <a:pt x="0" y="1048347"/>
                  </a:lnTo>
                  <a:close/>
                </a:path>
              </a:pathLst>
            </a:custGeom>
            <a:blipFill>
              <a:blip r:embed="rId2"/>
              <a:stretch>
                <a:fillRect l="-11" t="0" r="-1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149843" y="1001160"/>
            <a:ext cx="5138157" cy="8633226"/>
            <a:chOff x="0" y="0"/>
            <a:chExt cx="919368" cy="15447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9368" cy="1544739"/>
            </a:xfrm>
            <a:custGeom>
              <a:avLst/>
              <a:gdLst/>
              <a:ahLst/>
              <a:cxnLst/>
              <a:rect r="r" b="b" t="t" l="l"/>
              <a:pathLst>
                <a:path h="1544739" w="919368">
                  <a:moveTo>
                    <a:pt x="0" y="0"/>
                  </a:moveTo>
                  <a:lnTo>
                    <a:pt x="919368" y="0"/>
                  </a:lnTo>
                  <a:lnTo>
                    <a:pt x="919368" y="1544739"/>
                  </a:lnTo>
                  <a:lnTo>
                    <a:pt x="0" y="1544739"/>
                  </a:lnTo>
                  <a:close/>
                </a:path>
              </a:pathLst>
            </a:custGeom>
            <a:blipFill>
              <a:blip r:embed="rId3"/>
              <a:stretch>
                <a:fillRect l="-10007" t="0" r="-10007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71071" y="2265779"/>
            <a:ext cx="15269997" cy="381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6"/>
              </a:lnSpc>
            </a:pPr>
            <a:r>
              <a:rPr lang="en-US" b="true" sz="18522" spc="-1592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FACIAL DERMATOSIS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4359" y="8307968"/>
            <a:ext cx="4183796" cy="71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84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พสิษฐ์ เกตพันธุ์ 67109010396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sz="2084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สิรภพ เอี่ยมจารุภิญโญ 67109010402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323" y="5709335"/>
            <a:ext cx="6937223" cy="74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399" b="true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 AI-Based Facial Skin Condition Classification</a:t>
            </a:r>
          </a:p>
          <a:p>
            <a:pPr algn="l">
              <a:lnSpc>
                <a:spcPts val="292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6009" y="5216649"/>
            <a:ext cx="4466203" cy="4335733"/>
            <a:chOff x="0" y="0"/>
            <a:chExt cx="505172" cy="490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172" cy="490414"/>
            </a:xfrm>
            <a:custGeom>
              <a:avLst/>
              <a:gdLst/>
              <a:ahLst/>
              <a:cxnLst/>
              <a:rect r="r" b="b" t="t" l="l"/>
              <a:pathLst>
                <a:path h="490414" w="505172">
                  <a:moveTo>
                    <a:pt x="0" y="0"/>
                  </a:moveTo>
                  <a:lnTo>
                    <a:pt x="505172" y="0"/>
                  </a:lnTo>
                  <a:lnTo>
                    <a:pt x="505172" y="490414"/>
                  </a:lnTo>
                  <a:lnTo>
                    <a:pt x="0" y="490414"/>
                  </a:lnTo>
                  <a:close/>
                </a:path>
              </a:pathLst>
            </a:custGeom>
            <a:blipFill>
              <a:blip r:embed="rId3"/>
              <a:stretch>
                <a:fillRect l="-22773" t="0" r="-22773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296986" y="5216649"/>
            <a:ext cx="4161429" cy="4335733"/>
            <a:chOff x="0" y="0"/>
            <a:chExt cx="470699" cy="4904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0699" cy="490414"/>
            </a:xfrm>
            <a:custGeom>
              <a:avLst/>
              <a:gdLst/>
              <a:ahLst/>
              <a:cxnLst/>
              <a:rect r="r" b="b" t="t" l="l"/>
              <a:pathLst>
                <a:path h="490414" w="470699">
                  <a:moveTo>
                    <a:pt x="0" y="0"/>
                  </a:moveTo>
                  <a:lnTo>
                    <a:pt x="470699" y="0"/>
                  </a:lnTo>
                  <a:lnTo>
                    <a:pt x="470699" y="490414"/>
                  </a:lnTo>
                  <a:lnTo>
                    <a:pt x="0" y="490414"/>
                  </a:lnTo>
                  <a:close/>
                </a:path>
              </a:pathLst>
            </a:custGeom>
            <a:blipFill>
              <a:blip r:embed="rId4"/>
              <a:stretch>
                <a:fillRect l="-26210" t="0" r="-30463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26009" y="581689"/>
            <a:ext cx="4466203" cy="4335733"/>
            <a:chOff x="0" y="0"/>
            <a:chExt cx="505172" cy="4904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5172" cy="490414"/>
            </a:xfrm>
            <a:custGeom>
              <a:avLst/>
              <a:gdLst/>
              <a:ahLst/>
              <a:cxnLst/>
              <a:rect r="r" b="b" t="t" l="l"/>
              <a:pathLst>
                <a:path h="490414" w="505172">
                  <a:moveTo>
                    <a:pt x="0" y="0"/>
                  </a:moveTo>
                  <a:lnTo>
                    <a:pt x="505172" y="0"/>
                  </a:lnTo>
                  <a:lnTo>
                    <a:pt x="505172" y="490414"/>
                  </a:lnTo>
                  <a:lnTo>
                    <a:pt x="0" y="490414"/>
                  </a:lnTo>
                  <a:close/>
                </a:path>
              </a:pathLst>
            </a:custGeom>
            <a:blipFill>
              <a:blip r:embed="rId5"/>
              <a:stretch>
                <a:fillRect l="-495" t="0" r="-11864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296986" y="581689"/>
            <a:ext cx="4161429" cy="4335733"/>
            <a:chOff x="0" y="0"/>
            <a:chExt cx="470699" cy="4904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0699" cy="490414"/>
            </a:xfrm>
            <a:custGeom>
              <a:avLst/>
              <a:gdLst/>
              <a:ahLst/>
              <a:cxnLst/>
              <a:rect r="r" b="b" t="t" l="l"/>
              <a:pathLst>
                <a:path h="490414" w="470699">
                  <a:moveTo>
                    <a:pt x="0" y="0"/>
                  </a:moveTo>
                  <a:lnTo>
                    <a:pt x="470699" y="0"/>
                  </a:lnTo>
                  <a:lnTo>
                    <a:pt x="470699" y="490414"/>
                  </a:lnTo>
                  <a:lnTo>
                    <a:pt x="0" y="490414"/>
                  </a:lnTo>
                  <a:close/>
                </a:path>
              </a:pathLst>
            </a:custGeom>
            <a:blipFill>
              <a:blip r:embed="rId6"/>
              <a:stretch>
                <a:fillRect l="-28731" t="0" r="-28731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48928" y="3261074"/>
            <a:ext cx="7310372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โรคผิวหนังอักเสบบริเวณใบหน้า เป็นภาวะที่พบได้บ่อยในประชากรทั่วโลก แต่ด้วยลักษณะที่มีความซ้อนทับกันสูง และอาการอักเสบที่คล้ายคลึงกัน ทำให้แม้แต่แพทย์ที่ไม่ใช่ผู้เชี่ยวชาญด้านผิวหนังก็มักวินิจฉัยแยกโรคเหล่านี้ผิดพลาดได้ง่าย</a:t>
            </a:r>
          </a:p>
          <a:p>
            <a:pPr algn="l">
              <a:lnSpc>
                <a:spcPts val="3920"/>
              </a:lnSpc>
            </a:pP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ความผิดพลาดในการวินิจฉัยนี้ไม่ใช่เรื่องเล็กน้อย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โรคผิวหนังบริเวณใบหน้าส่งผลกระทบทางจิตใจ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      และสังคมอย่างรุนแรง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8928" y="1634369"/>
            <a:ext cx="7267003" cy="111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7200" b="true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Background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32338" y="0"/>
            <a:ext cx="2960191" cy="3277745"/>
            <a:chOff x="0" y="0"/>
            <a:chExt cx="579208" cy="6413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208" cy="641342"/>
            </a:xfrm>
            <a:custGeom>
              <a:avLst/>
              <a:gdLst/>
              <a:ahLst/>
              <a:cxnLst/>
              <a:rect r="r" b="b" t="t" l="l"/>
              <a:pathLst>
                <a:path h="641342" w="579208">
                  <a:moveTo>
                    <a:pt x="0" y="0"/>
                  </a:moveTo>
                  <a:lnTo>
                    <a:pt x="579208" y="0"/>
                  </a:lnTo>
                  <a:lnTo>
                    <a:pt x="579208" y="641342"/>
                  </a:lnTo>
                  <a:lnTo>
                    <a:pt x="0" y="641342"/>
                  </a:lnTo>
                  <a:close/>
                </a:path>
              </a:pathLst>
            </a:custGeom>
            <a:blipFill>
              <a:blip r:embed="rId3"/>
              <a:stretch>
                <a:fillRect l="0" t="-3811" r="0" b="-1596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578161" y="1865755"/>
            <a:ext cx="2960191" cy="3277745"/>
            <a:chOff x="0" y="0"/>
            <a:chExt cx="579208" cy="6413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9208" cy="641342"/>
            </a:xfrm>
            <a:custGeom>
              <a:avLst/>
              <a:gdLst/>
              <a:ahLst/>
              <a:cxnLst/>
              <a:rect r="r" b="b" t="t" l="l"/>
              <a:pathLst>
                <a:path h="641342" w="579208">
                  <a:moveTo>
                    <a:pt x="0" y="0"/>
                  </a:moveTo>
                  <a:lnTo>
                    <a:pt x="579208" y="0"/>
                  </a:lnTo>
                  <a:lnTo>
                    <a:pt x="579208" y="641342"/>
                  </a:lnTo>
                  <a:lnTo>
                    <a:pt x="0" y="641342"/>
                  </a:lnTo>
                  <a:close/>
                </a:path>
              </a:pathLst>
            </a:custGeom>
            <a:blipFill>
              <a:blip r:embed="rId4"/>
              <a:stretch>
                <a:fillRect l="0" t="-1877" r="0" b="-15375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132338" y="3502348"/>
            <a:ext cx="2960191" cy="3277745"/>
            <a:chOff x="0" y="0"/>
            <a:chExt cx="579208" cy="6413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9208" cy="641342"/>
            </a:xfrm>
            <a:custGeom>
              <a:avLst/>
              <a:gdLst/>
              <a:ahLst/>
              <a:cxnLst/>
              <a:rect r="r" b="b" t="t" l="l"/>
              <a:pathLst>
                <a:path h="641342" w="579208">
                  <a:moveTo>
                    <a:pt x="0" y="0"/>
                  </a:moveTo>
                  <a:lnTo>
                    <a:pt x="579208" y="0"/>
                  </a:lnTo>
                  <a:lnTo>
                    <a:pt x="579208" y="641342"/>
                  </a:lnTo>
                  <a:lnTo>
                    <a:pt x="0" y="641342"/>
                  </a:lnTo>
                  <a:close/>
                </a:path>
              </a:pathLst>
            </a:custGeom>
            <a:blipFill>
              <a:blip r:embed="rId5"/>
              <a:stretch>
                <a:fillRect l="0" t="-1394" r="0" b="-1759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578161" y="5368103"/>
            <a:ext cx="2960191" cy="3653201"/>
            <a:chOff x="0" y="0"/>
            <a:chExt cx="579208" cy="714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9208" cy="714806"/>
            </a:xfrm>
            <a:custGeom>
              <a:avLst/>
              <a:gdLst/>
              <a:ahLst/>
              <a:cxnLst/>
              <a:rect r="r" b="b" t="t" l="l"/>
              <a:pathLst>
                <a:path h="714806" w="579208">
                  <a:moveTo>
                    <a:pt x="0" y="0"/>
                  </a:moveTo>
                  <a:lnTo>
                    <a:pt x="579208" y="0"/>
                  </a:lnTo>
                  <a:lnTo>
                    <a:pt x="579208" y="714806"/>
                  </a:lnTo>
                  <a:lnTo>
                    <a:pt x="0" y="714806"/>
                  </a:lnTo>
                  <a:close/>
                </a:path>
              </a:pathLst>
            </a:custGeom>
            <a:blipFill>
              <a:blip r:embed="rId6"/>
              <a:stretch>
                <a:fillRect l="0" t="-6661" r="-591" b="-7138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132338" y="7009255"/>
            <a:ext cx="2960191" cy="3277745"/>
            <a:chOff x="0" y="0"/>
            <a:chExt cx="579208" cy="6413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9208" cy="641342"/>
            </a:xfrm>
            <a:custGeom>
              <a:avLst/>
              <a:gdLst/>
              <a:ahLst/>
              <a:cxnLst/>
              <a:rect r="r" b="b" t="t" l="l"/>
              <a:pathLst>
                <a:path h="641342" w="579208">
                  <a:moveTo>
                    <a:pt x="0" y="0"/>
                  </a:moveTo>
                  <a:lnTo>
                    <a:pt x="579208" y="0"/>
                  </a:lnTo>
                  <a:lnTo>
                    <a:pt x="579208" y="641342"/>
                  </a:lnTo>
                  <a:lnTo>
                    <a:pt x="0" y="641342"/>
                  </a:lnTo>
                  <a:close/>
                </a:path>
              </a:pathLst>
            </a:custGeom>
            <a:blipFill>
              <a:blip r:embed="rId7"/>
              <a:stretch>
                <a:fillRect l="0" t="-7784" r="0" b="-778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AutoShape 13" id="13"/>
          <p:cNvSpPr/>
          <p:nvPr/>
        </p:nvSpPr>
        <p:spPr>
          <a:xfrm flipH="true" flipV="true">
            <a:off x="9685831" y="-1140951"/>
            <a:ext cx="0" cy="12597477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96860" y="1028700"/>
            <a:ext cx="4810689" cy="2072089"/>
            <a:chOff x="0" y="0"/>
            <a:chExt cx="6414251" cy="2762785"/>
          </a:xfrm>
        </p:grpSpPr>
        <p:sp>
          <p:nvSpPr>
            <p:cNvPr name="AutoShape 15" id="15"/>
            <p:cNvSpPr/>
            <p:nvPr/>
          </p:nvSpPr>
          <p:spPr>
            <a:xfrm>
              <a:off x="0" y="2756435"/>
              <a:ext cx="6414251" cy="0"/>
            </a:xfrm>
            <a:prstGeom prst="line">
              <a:avLst/>
            </a:prstGeom>
            <a:ln cap="flat" w="12700">
              <a:solidFill>
                <a:srgbClr val="22222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0" y="1381393"/>
              <a:ext cx="6414251" cy="0"/>
            </a:xfrm>
            <a:prstGeom prst="line">
              <a:avLst/>
            </a:prstGeom>
            <a:ln cap="flat" w="12700">
              <a:solidFill>
                <a:srgbClr val="22222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0" y="6350"/>
              <a:ext cx="6414251" cy="0"/>
            </a:xfrm>
            <a:prstGeom prst="line">
              <a:avLst/>
            </a:prstGeom>
            <a:ln cap="flat" w="12700">
              <a:solidFill>
                <a:srgbClr val="222222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96860" y="3586974"/>
            <a:ext cx="8349414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Amran &amp; Zakaria (2024) , Classification of Acne Vulgaris and Rosacea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Park, S., Chien, A. L., Lin, B., &amp; Li, K. (2023). FACES, FACES: Rosacea Diagnosis Ensemble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Goceri, E. (2021), Deep Learning Classification of Facial Dermatological Disorders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Deepak, G. D., Bhat, S. K., &amp; Gupta, A. (2025), Improved CNN Architecture for Skin Disease Classification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Yang, C., Yesgari, R. R., &amp; Liu, C. (2025), Patch-based Rosacea Detection Using ResNet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6860" y="1009650"/>
            <a:ext cx="7761337" cy="222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7200" b="true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Literature Survey Method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6646" y="7372541"/>
            <a:ext cx="5417778" cy="2404965"/>
          </a:xfrm>
          <a:custGeom>
            <a:avLst/>
            <a:gdLst/>
            <a:ahLst/>
            <a:cxnLst/>
            <a:rect r="r" b="b" t="t" l="l"/>
            <a:pathLst>
              <a:path h="2404965" w="5417778">
                <a:moveTo>
                  <a:pt x="0" y="0"/>
                </a:moveTo>
                <a:lnTo>
                  <a:pt x="5417778" y="0"/>
                </a:lnTo>
                <a:lnTo>
                  <a:pt x="5417778" y="2404965"/>
                </a:lnTo>
                <a:lnTo>
                  <a:pt x="0" y="2404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6910" y="1735230"/>
            <a:ext cx="1447736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เป็นการจำแนกระหว่างสิวกับโรซาเซีย ด้วย CNN บทความนี้ต้องการทำโปรแกรมที่ดูรูปแล้วบอกได้ว่านี่คือสิว หรือ โรซาเซีย เพราะสองโรคนี้หน้าตาคล้ายกันอย่างมาก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6910" y="603829"/>
            <a:ext cx="8327986" cy="97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b="true" sz="7204" spc="-439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ACNE VS ROSACEA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72049" y="8723406"/>
            <a:ext cx="9529246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CNN หรือ โครงข่ายประสาทแบบคอนโวลูชัน (Convolutional Neural Network)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เป็นอัลกอริทึมประเภท Deep Learning ในสาขาAI ที่จำลองการทำงานของการมองเห็นของมนุษย์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16910" y="2983993"/>
            <a:ext cx="2576086" cy="51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3804" spc="-232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HOW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14589" y="2873785"/>
            <a:ext cx="1381368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Dataset: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จาก Kaggle มา 19,500 รูป มี 23 โรคผิวหนัง แต่ใช้แค่ รูปสิวกับโรซาเซียประมาณ 1,152 รูป (840 รูปไว้ฝึก, 312 รูปไว้ทดสอบ)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4589" y="4012340"/>
            <a:ext cx="1381368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เ</a:t>
            </a: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ตรียมรูปให้พร้อมใช้: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แปลงรูปเป็นขาวดำเพื่อลดความซับซ้อน, ปรับให้สีสม่ำเสมอกัน, เพิ่มจำนวนรูปขึ้นมา เช่น หมุนรูป, กลับด้าน เพื่อให้มีข้อมูลฝึกเยอะขึ้น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4589" y="5150895"/>
            <a:ext cx="138136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ดึงจุดเด่นของรูป: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ใช้เทคนิคดูลายผิว (GLCM) กับตรวจจับขอบ (Canny edge detection)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4589" y="5794151"/>
            <a:ext cx="138136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Model: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AI 3 แบบเรียนรู้ คือ CNN ธรรมดา, VGG, ResNet แล้วดูว่าแบบไหนทายแม่นสุด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4589" y="6437406"/>
            <a:ext cx="1445523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ผลออกมา: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VGG แม่นที่สุด 94% ส่วน CNN ธรรมดาได้ 83% และ ResNet ได้ 60-74%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674475" y="8681673"/>
            <a:ext cx="15456876" cy="62442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29593" y="7319443"/>
            <a:ext cx="7229707" cy="2635831"/>
          </a:xfrm>
          <a:custGeom>
            <a:avLst/>
            <a:gdLst/>
            <a:ahLst/>
            <a:cxnLst/>
            <a:rect r="r" b="b" t="t" l="l"/>
            <a:pathLst>
              <a:path h="2635831" w="7229707">
                <a:moveTo>
                  <a:pt x="0" y="0"/>
                </a:moveTo>
                <a:lnTo>
                  <a:pt x="7229707" y="0"/>
                </a:lnTo>
                <a:lnTo>
                  <a:pt x="7229707" y="2635831"/>
                </a:lnTo>
                <a:lnTo>
                  <a:pt x="0" y="2635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6910" y="775279"/>
            <a:ext cx="3192557" cy="802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</a:pPr>
            <a:r>
              <a:rPr lang="en-US" b="true" sz="7204" spc="-439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FACES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6910" y="1520762"/>
            <a:ext cx="1465434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เป็นการรวม 5 โมเดลเพื่อจับโรซาเซีย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คือไม่เลือกโมเดลเดียว แต่เอาหลายโมเดลมารวมกันที่ชื่อว่า FACES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6910" y="2327072"/>
            <a:ext cx="1596279" cy="51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3804" spc="-232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HOW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3188" y="2212772"/>
            <a:ext cx="1381368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Dataset: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เก็บรูปจากคนไข้จริง ประกอบด้วยคนไข้โรซาเซีย 40 คน กับคนปกติ 59 คน จากโรงพยาบาล Johns Hopkins แล้วถ่ายหลายมุม(multi-view)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3188" y="3351327"/>
            <a:ext cx="1381368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ลองทดสอบ AI 19 แบบ: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เอา CNN ที่มีชื่อเสียง 19 ตัวมาฝึกจำแนก โรซาเซียกับผิวปกติ แล้วคัดตัวที่แม่นที่สุด 5 ตัว คือ ResNet-101, DarkNet-19, DarkNet-53, ResNet-50, GoogleNet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13188" y="4489883"/>
            <a:ext cx="1381368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FACES: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จากการรวม 5 ตัว จากแต่ละตัวควรโหวตเท่ากัน แต่เขาให้น้ำหนักตามความแม่นยำของแต่ละโมเดลแทน แล้วบวกคะแนนรวมกันเป็นสูตรคณิตศาสตร์ ลองปรับสูตรหลายแบบ (เส้นตรง, กำลังสอง, กำลังสาม, กำลังสี่) เพื่อหาแบบที่ดีที่สุด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13188" y="6123738"/>
            <a:ext cx="1445523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ผลออกมา: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FACES ชนะทุกวิธีได้แม่นยำที่สุด 92.27% ดีกว่าใช้โมเดลเดี่ยวตัวใดตัวหนึ่ง และดีกว่าการโหวตเสียงข้างมากธรรมดา(เช่น จาก3ใน5โมเดลบอกโรซาเซีย  ก็ตัดสินว่าใช่)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6910" y="775279"/>
            <a:ext cx="10891254" cy="149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</a:pPr>
            <a:r>
              <a:rPr lang="en-US" b="true" sz="7204" spc="-439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MULTI-CONDITION FACIAL CLASSIFICATION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6910" y="2216087"/>
            <a:ext cx="536281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ตัดรอยโรคออกจากพื้นหลังและจำแนก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6910" y="2956029"/>
            <a:ext cx="1596279" cy="51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3804" spc="-232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HOW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13188" y="2841729"/>
            <a:ext cx="1381368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Dataset: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ภาพรวม 5 โรคผิวหนังบนใบหน้าจำนวน 505 ภาพที่คัดกรองจากฐานข้อมูลออนไลน์ แบ่งเป็นชุดข้อมูลสำหรับฝึก 400 ภาพ และสำหรับทดสอบ 105 ภาพ จาก DermNet , DermQuest , DermWeb และ Dermatoweb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13188" y="4489106"/>
            <a:ext cx="13813681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Method: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ขั้นที่ 1 ตัดรอยโรคออกจากรูป กรอง noise ออก ปรับความคมชัดของสี หาขอบรอยโรคอัตโนมัติเทียบสีแดง เขียว น้ำเงิน, ใช้เทคนิคทางคณิตศาสตร์ที่เรียกว่า active contour ประเด็นคือเขาทำให้ระบบปรับความเร็วเส้นขอบอัตโนมัติ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                ขั้นที่ 2 จำแนกประเภท  เอาเฉพาะรูปที่ตัดมาแล้วไปให้ DenseNet201 และคิดค้น Loss Function ใหม่ cross-entropy กับ Tverskyรวมกัน ที่เน้นให้ AI ใส่ใจกับรอยโรคเล็กๆ มากขึ้น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3188" y="7123087"/>
            <a:ext cx="1358601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ผลออกมา: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ขั้นตัดรอยโรค แม่นยำ 95.97% และขั้นจำแนกโรคด้วย DenseNet201กับ loss ใหม่ แม่นยำสูงสุด 95.24% ดีกว่าเทียบกับ CNN อีก 9 แบบ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43757" y="7887627"/>
            <a:ext cx="3760094" cy="2037570"/>
          </a:xfrm>
          <a:custGeom>
            <a:avLst/>
            <a:gdLst/>
            <a:ahLst/>
            <a:cxnLst/>
            <a:rect r="r" b="b" t="t" l="l"/>
            <a:pathLst>
              <a:path h="2037570" w="3760094">
                <a:moveTo>
                  <a:pt x="0" y="0"/>
                </a:moveTo>
                <a:lnTo>
                  <a:pt x="3760094" y="0"/>
                </a:lnTo>
                <a:lnTo>
                  <a:pt x="3760094" y="2037570"/>
                </a:lnTo>
                <a:lnTo>
                  <a:pt x="0" y="2037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" t="-36856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3188" y="4456534"/>
            <a:ext cx="15046112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Method: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จากการเพิ่มข้อมูลแบบหมุนรูป ย่อ-ขยาย เลื่อนตำแหน่งรูป เพื่อให้ข้อมูลเยอะขึ้น แล้วลองโมเดลสำเร็จรูป 4 ตัว SqueezeNet, DarkNet-53, EfficientNet-b0, ResNet-18 ทุกตัวได้แม่นยำแค่ 75-80% ซึ่งยังไม่ดีมากพอ เขาจึงนำ DarkNet-53 กับ ResNet-18 มาเพิ่มชั้น Fully Connected เข้าไปคิดวิเคราะห์ให้ลึกขึ้นก่อนสรุปผล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738571" y="8243040"/>
            <a:ext cx="11520729" cy="1651481"/>
          </a:xfrm>
          <a:custGeom>
            <a:avLst/>
            <a:gdLst/>
            <a:ahLst/>
            <a:cxnLst/>
            <a:rect r="r" b="b" t="t" l="l"/>
            <a:pathLst>
              <a:path h="1651481" w="11520729">
                <a:moveTo>
                  <a:pt x="0" y="0"/>
                </a:moveTo>
                <a:lnTo>
                  <a:pt x="11520729" y="0"/>
                </a:lnTo>
                <a:lnTo>
                  <a:pt x="11520729" y="1651480"/>
                </a:lnTo>
                <a:lnTo>
                  <a:pt x="0" y="165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5758" y="577675"/>
            <a:ext cx="10581536" cy="166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3"/>
              </a:lnSpc>
            </a:pPr>
            <a:r>
              <a:rPr lang="en-US" b="true" sz="8004" spc="-488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TRANSFER LEARNING / CNN COMPARISON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6910" y="2216087"/>
            <a:ext cx="1469858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เอา CNN มาปรับแต่งโครงสร้างให้จำแนกโรซาเซีย, ผื่นภูมิแพ้, บลิสเตอร์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6910" y="2956029"/>
            <a:ext cx="1596279" cy="51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3804" spc="-232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HOW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3188" y="2841729"/>
            <a:ext cx="1381368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Dataset: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ภาพรวมประมาณ 550 ภาพ เป็นโรซาเซีย 311 ภาพ, ผื่นภูมิแพ้ผิวหนัง 123 ภาพ, โรคตุ่มน้ำพอง 113 ภาพ ซึ่งคัดเลือกมาจากชุดข้อมูลดั้งเดิมที่มีมากกว่า 20 โรคผิวหนัง เป็นข้อมูลจากแหล่งสาธารณะ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3188" y="6566640"/>
            <a:ext cx="13586014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ผลออกมา: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DarkNet-53 แต่งแบบ 4 ชั้น แม่นยำ 98% จากเดิม 80%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                    ResNet-18 แต่งแบบ 2 ชั้น แม่นยำ 97% จากเดิม 80%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                    DarkNet-53 แต่งแบบ 2 ชั้น 85%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6910" y="1731138"/>
            <a:ext cx="144773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ตัดรูปเป็นแพทช์เล็กๆแทนใช้ทั้งหน้าเพื่อรักษาความเป็นส่วนตัว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6910" y="603829"/>
            <a:ext cx="15783333" cy="97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b="true" sz="7204" spc="-439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PATCH-BASED ROSACEA DETECTION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6910" y="2590077"/>
            <a:ext cx="2576086" cy="51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3804" spc="-232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HOW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14589" y="2479868"/>
            <a:ext cx="14654344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Dataset: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รวมทั้งหมด 900 ภาพ โดยเป็นกลุ่มที่เป็นโรซาเซีย 300 ภาพจากระบบ GAN และกลุ่มปกติ 600 ภาพที่สร้างผ่าน StyleGAN รวม 200 ภาพ แบ่งเป็นกรณีที่เป็นโรค 50 ภาพ และกรณีที่ไม่เป็นโรค 150 ภาพ รวบรวมตัวอย่างจากแพลตฟอร์ม Kaggle, DermNet, CelebA และ National Rosacea Society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314589" y="4139366"/>
            <a:ext cx="1379155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เ</a:t>
            </a:r>
            <a:r>
              <a:rPr lang="en-US" b="true" sz="2799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ตรียมรูปให้พร้อมใช้: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แบ่งใบหน้าเป็น 4 โซน หน้าผาก (F), จมูก (N), แก้มซ้าย (LC), แก้มขวา (RC), ตัดแพทช์ 3 ขนาด, ลองผสมโซนต่างๆ กัน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14589" y="5382696"/>
            <a:ext cx="1379155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Model: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ใช้ ResNet-18 เป็นตัวจำแนกว่า เป็นโรซาเซียหรือไม่ เน้นการสุ่มตัวอย่างระดับ Patch (Patch-level sampling) เพื่อใช้ประมวลผลแทนการป้อนข้อมูลด้วยรูปภาพทั้งใบหน้า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14589" y="6692702"/>
            <a:ext cx="1465434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ผลออกมา: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- การรวมหลายโซนเข้าด้วยกัน (เช่น F+N+LC) ให้ผลดีที่สุด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                    - แก้มซ้าย/ขวา เป็นโซนที่มีข้อมูลบอกโรคได้ดีที่สุดขณะที่หน้าผากกับจมูกเดี่ยวๆ ให้ผลแย่กว่า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                    - ขนาดแพทช์ไม่ค่อยมีผลมาก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6647874" y="8947145"/>
            <a:ext cx="15456876" cy="62442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616910" y="2022665"/>
          <a:ext cx="16230600" cy="6861105"/>
        </p:xfrm>
        <a:graphic>
          <a:graphicData uri="http://schemas.openxmlformats.org/presentationml/2006/ole">
            <p:oleObj imgW="19469100" imgH="10096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16910" y="603829"/>
            <a:ext cx="15783333" cy="97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b="true" sz="7204" spc="-439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COMPARISON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652614" y="1924714"/>
          <a:ext cx="16982771" cy="6924271"/>
        </p:xfrm>
        <a:graphic>
          <a:graphicData uri="http://schemas.openxmlformats.org/presentationml/2006/ole">
            <p:oleObj imgW="20383500" imgH="10325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52614" y="682441"/>
            <a:ext cx="9055070" cy="89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3"/>
              </a:lnSpc>
            </a:pPr>
            <a:r>
              <a:rPr lang="en-US" b="true" sz="8004" spc="-488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RESEARCH GAP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2614" y="682441"/>
            <a:ext cx="14497252" cy="89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3"/>
              </a:lnSpc>
            </a:pPr>
            <a:r>
              <a:rPr lang="en-US" b="true" sz="8004" spc="-488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PROPOSED DIRECTION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4092" y="2371337"/>
            <a:ext cx="1491981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การเลือกโครงสร้างหลัก (Backbone Selection):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ใช้การเรียนรู้แบบถ่ายโอน Transfer Learning ร่วมกับโครงสร้างที่มีประสิทธิภาพ เช่น EfficientNet-B0 หรือ ResNet-50 เพื่อเพิ่มประสิทธิภาพในการคำนวณ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84092" y="3632330"/>
            <a:ext cx="1491981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ขอบเขตโครงการ (Project Scope):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ใช้การจำแนกประเภทแบบหลายกลุ่ม (Multi-class Classification) เพื่อแก้ไขข้อจำกัดในการวินิจฉัยแบบไบนารีที่มักพบในงานวิจัยปัจจุบัน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84092" y="4872337"/>
            <a:ext cx="14919816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ความทนทานและการสรุปผลทั่วไป (Robustness &amp; Generalization):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ลดปัญหาความไม่สมดุลของข้อมูลและประเมินประสิทธิภาพการทำงานในสีผิวที่หลากหลายตามมาตรวัด Fitzpatrick เพื่อเติมเต็มช่องว่างทางองค์ความรู้ที่สำคัญ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84092" y="6782417"/>
            <a:ext cx="1491981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22220"/>
                </a:solidFill>
                <a:latin typeface="Helvetica Thai Bold"/>
                <a:ea typeface="Helvetica Thai Bold"/>
                <a:cs typeface="Helvetica Thai Bold"/>
                <a:sym typeface="Helvetica Thai Bold"/>
              </a:rPr>
              <a:t>กลยุทธ์ด้านสถาปัตยกรรม (Architectural Strategy):</a:t>
            </a:r>
            <a:r>
              <a:rPr lang="en-US" sz="2799">
                <a:solidFill>
                  <a:srgbClr val="222220"/>
                </a:solidFill>
                <a:latin typeface="Helvetica Thai"/>
                <a:ea typeface="Helvetica Thai"/>
                <a:cs typeface="Helvetica Thai"/>
                <a:sym typeface="Helvetica Thai"/>
              </a:rPr>
              <a:t> ประเมินการเลือกใช้โมเดลเดี่ยวเทียบกับการเรียนรู้แบบกลุ่ม Ensemble Method เพื่อยกระดับความน่าเชื่อถือของระบบและลดความเสี่ยงจากความผิดพลาด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0775" t="-2186" r="-611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948" y="976316"/>
            <a:ext cx="8350723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b="true" sz="12000" spc="-731">
                <a:solidFill>
                  <a:srgbClr val="22222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105597" y="580829"/>
            <a:ext cx="5138157" cy="8633226"/>
            <a:chOff x="0" y="0"/>
            <a:chExt cx="919368" cy="15447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9368" cy="1544739"/>
            </a:xfrm>
            <a:custGeom>
              <a:avLst/>
              <a:gdLst/>
              <a:ahLst/>
              <a:cxnLst/>
              <a:rect r="r" b="b" t="t" l="l"/>
              <a:pathLst>
                <a:path h="1544739" w="919368">
                  <a:moveTo>
                    <a:pt x="0" y="0"/>
                  </a:moveTo>
                  <a:lnTo>
                    <a:pt x="919368" y="0"/>
                  </a:lnTo>
                  <a:lnTo>
                    <a:pt x="919368" y="1544739"/>
                  </a:lnTo>
                  <a:lnTo>
                    <a:pt x="0" y="1544739"/>
                  </a:lnTo>
                  <a:close/>
                </a:path>
              </a:pathLst>
            </a:custGeom>
            <a:blipFill>
              <a:blip r:embed="rId3"/>
              <a:stretch>
                <a:fillRect l="-10007" t="0" r="-10007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5239632"/>
            <a:ext cx="9819217" cy="4018668"/>
            <a:chOff x="0" y="0"/>
            <a:chExt cx="2561533" cy="1048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1533" cy="1048347"/>
            </a:xfrm>
            <a:custGeom>
              <a:avLst/>
              <a:gdLst/>
              <a:ahLst/>
              <a:cxnLst/>
              <a:rect r="r" b="b" t="t" l="l"/>
              <a:pathLst>
                <a:path h="1048347" w="2561533">
                  <a:moveTo>
                    <a:pt x="0" y="0"/>
                  </a:moveTo>
                  <a:lnTo>
                    <a:pt x="2561533" y="0"/>
                  </a:lnTo>
                  <a:lnTo>
                    <a:pt x="2561533" y="1048347"/>
                  </a:lnTo>
                  <a:lnTo>
                    <a:pt x="0" y="1048347"/>
                  </a:lnTo>
                  <a:close/>
                </a:path>
              </a:pathLst>
            </a:custGeom>
            <a:blipFill>
              <a:blip r:embed="rId4"/>
              <a:stretch>
                <a:fillRect l="-22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AutoShape 8" id="8"/>
          <p:cNvSpPr/>
          <p:nvPr/>
        </p:nvSpPr>
        <p:spPr>
          <a:xfrm>
            <a:off x="-8860143" y="4035908"/>
            <a:ext cx="15456876" cy="62442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DAHTp3iY0eE</dc:identifier>
  <dcterms:modified xsi:type="dcterms:W3CDTF">2011-08-01T06:04:30Z</dcterms:modified>
  <cp:revision>1</cp:revision>
  <dc:title>Facial Dermatosis</dc:title>
</cp:coreProperties>
</file>